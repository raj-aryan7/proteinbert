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3BB8C3"/>
          </a:solidFill>
          <a:ln w="12700">
            <a:solidFill>
              <a:srgbClr val="3BB8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BB8C3"/>
                </a:solidFill>
              </a:rPr>
              <a:t>UGP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AlphaFold  +  ProteinBERT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5"/>
                </a:solidFill>
              </a:rPr>
              <a:t>Protein Secondary &amp; Tertiary Structure Prediction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02920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Raj Aryan</a:t>
            </a:r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</a:rPr>
              <a:t>  (230837)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Tushar Jain</a:t>
            </a:r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</a:rPr>
              <a:t>  (231102)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242"/>
                </a:solidFill>
              </a:rPr>
              <a:t>Guided by: Prof. Sana Khanum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36576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100584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64592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28600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92608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356616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420624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965960" cy="3474720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9659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170432"/>
            <a:ext cx="640080" cy="64008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AlphaFold Paper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Read &amp; understood the AlphaFold architecture.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Attempted re-implementation of core concepts.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788920"/>
            <a:ext cx="2286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05840"/>
            <a:ext cx="1965960" cy="3474720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05840"/>
            <a:ext cx="19659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170432"/>
            <a:ext cx="640080" cy="64008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ProteinBERT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Implemented ProteinBERT using LSTM, TAPE Transformer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and the full ProteinBERT model with pretraining.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2788920"/>
            <a:ext cx="2286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005840"/>
            <a:ext cx="1965960" cy="3474720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005840"/>
            <a:ext cx="19659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67528" y="1170432"/>
            <a:ext cx="640080" cy="64008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Ensemble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Novelty: 8-model ensemble trained on CB513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dataset splits → improved generalisation.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788920"/>
            <a:ext cx="2286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005840"/>
            <a:ext cx="1965960" cy="3474720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1005840"/>
            <a:ext cx="19659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62088" y="1170432"/>
            <a:ext cx="640080" cy="64008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2088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AlphaFold + ProteinBERT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Used ProteinBERT SS predictions to build 3D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backbone → compared with AlphaFold GT structures.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— LSTM (with vs without Pretraining)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With Pretraining: Epoch 20  |  Without Pretraining: Epoch 20 (overfits) &amp; Epoch 5 (best generalisation)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03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Pretraining (E=20)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Without Pretraining (E=20)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Without Pretraining (E=5)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0.6484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0.5119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0.6624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0.7212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0.784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0.7148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0.6743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0.7428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0.7088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0.9077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0.7778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0.6818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E8F5EE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950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38"/>
                </a:solidFill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1A6B38"/>
                </a:solidFill>
              </a:rPr>
              <a:t>Pretraining improves test accuracy (69.6% vs 68.2%). At epoch 20 without pretraining, val loss rises (0.7428) — signs of overfitting. Epoch 5 shows better generalisation (val acc 70.9%).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— TAPE Transformer (with vs without Pretraining)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With Pretraining: Epoch 25  |  Without Pretraining: Epoch 20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Pretraining (E=25)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Without Pretraining (E=20)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0.7546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0.6659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0.7605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0.7003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0.6646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0.6973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0.7943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0.7404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0.6786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FFF8E8"/>
          </a:solidFill>
          <a:ln w="10160">
            <a:solidFill>
              <a:srgbClr val="F5C2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950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600"/>
                </a:solidFill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7A5600"/>
                </a:solidFill>
              </a:rPr>
              <a:t>Without pretraining achieves higher test accuracy (67.9% vs 65.0%). TAPE Transformer without pretraining shows tight train/val alignment, indicating good generalisation with no overfitting at epoch 20.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— ProteinBERT (with Pretraining)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Epoch 10  |  CB513 benchmark test set  |  3-class secondary structure (H / E / C)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Pretraining (E=10)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0.8498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Train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0.6081  (60.81%)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0.8641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Val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0.6043  (60.43%)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0.8801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40"/>
                          </a:solidFill>
                        </a:rPr>
                        <a:t>Test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0.5958  (59.58%)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34440"/>
            <a:ext cx="3108960" cy="100584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TEST ACCURACY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0" y="15270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59.58%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0" y="1874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CB513 benchmark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0" y="2331720"/>
            <a:ext cx="3108960" cy="100584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395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VAL ACCURACY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9280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60.43%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0" y="29718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Validation set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69280" y="3429000"/>
            <a:ext cx="3108960" cy="100584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493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TRAIN ACCURACY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0" y="37216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60.81%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69280" y="40690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Train-val gap: 0.38%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EAF1FB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950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C6A"/>
                </a:solidFill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0A4C6A"/>
                </a:solidFill>
              </a:rPr>
              <a:t>Very small train–val gap (0.38%) confirms minimal overfitting. 10 epochs with the ProteinBERT pretrained backbone extracts meaningful secondary structure signal. Q3 accuracy of 59.6% on CB513 — well above 33.3% random baseline.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— ProteinBERT with Ensemble Learning  (Novel Contribution)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8 classifiers trained on disjoint CB513 splits  |  Epoch 10 each  |  Predictions averaged at inference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5603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Single ProteinBERT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Ensemble (8 models)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 Gain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Train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0.8498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0.8137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2D2D"/>
                          </a:solidFill>
                        </a:rPr>
                        <a:t>↓ 0.036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Train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60.81%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63.02%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8"/>
                          </a:solidFill>
                        </a:rPr>
                        <a:t>↑ 2.21%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0.8641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0.8543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2D2D"/>
                          </a:solidFill>
                        </a:rPr>
                        <a:t>↓ 0.010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Val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60.43%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61.04%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8"/>
                          </a:solidFill>
                        </a:rPr>
                        <a:t>↑ 0.61%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Test Acc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59.58%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740"/>
                          </a:solidFill>
                        </a:rPr>
                        <a:t>60.95%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8"/>
                          </a:solidFill>
                        </a:rPr>
                        <a:t>↑ 1.37%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822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Ensemble Strategy: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F6A"/>
                </a:solidFill>
              </a:rPr>
              <a:t>CB513 (8678 proteins) → split into 8 disjoint subsets → 8 classifiers trained independently → softmax outputs averaged → argmax → final prediction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AlphaFold + ProteinBERT — Secondary Structure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ProteinBERT SS predictions vs AlphaFold-derived secondary structure labels  (5 UniProt proteins)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188720"/>
                <a:gridCol w="1005840"/>
                <a:gridCol w="109728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UniProt 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Length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Q3 Accuracy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Error 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Mismatches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Helix Acc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Sheet Acc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Coil Acc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P69905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2D2D"/>
                          </a:solidFill>
                        </a:rPr>
                        <a:t>0.4930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0.5070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0.5370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0.3529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P00441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2D2D"/>
                          </a:solidFill>
                        </a:rPr>
                        <a:t>0.4091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0.5909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0.0794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0.7073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P02144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2D2D"/>
                          </a:solidFill>
                        </a:rPr>
                        <a:t>0.3961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0.6039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0.3860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0.4250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P01308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8"/>
                          </a:solidFill>
                        </a:rPr>
                        <a:t>0.5545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0.4455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0.3704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0.6145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P68871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2D2D"/>
                          </a:solidFill>
                        </a:rPr>
                        <a:t>0.3946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0.6054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0.3190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0.6774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520440"/>
            <a:ext cx="2286000" cy="91440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3584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OVERALL Q3 ACCURACY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3813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44.27%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0040" y="4160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All 5 proteins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88920" y="3520440"/>
            <a:ext cx="2286000" cy="91440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3584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OVERALL ERROR RATE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88920" y="3813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55.73%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88920" y="4160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395 / 707 residues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257800" y="3520440"/>
            <a:ext cx="3474720" cy="91440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57800" y="3584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B8C3"/>
                </a:solidFill>
              </a:rPr>
              <a:t>BEST PROTEIN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57800" y="38130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P01308 Insulin — 55.45%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57800" y="41605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Lowest error: 44.55%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AlphaFold + ProteinBERT — 3D Structure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</a:rPr>
              <a:t>ProteinBERT SS → NERF 3D backbone  vs  AlphaFold ground-truth PDB  |  AlphaFold-standard evaluation metrics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685800"/>
                <a:gridCol w="777240"/>
                <a:gridCol w="868680"/>
                <a:gridCol w="868680"/>
                <a:gridCol w="777240"/>
                <a:gridCol w="68580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UniProt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Protein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Length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AF pLDDT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RMSD (Å)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TM-score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GDT-TS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lDDT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Same Fold?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P69905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Hemoglobin 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98.1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30.07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0.0434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0.0053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0.2352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P00441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SOD1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97.9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40.26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0.0225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0.1188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P02144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Myoglobin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97.2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25.74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0.0681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0.0146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0.2549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P01308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Insulin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52.9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20.08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0.0729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0.0227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0.3863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P68871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Hemoglobin 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147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97.2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23.84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0.0463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</a:rPr>
                        <a:t>0.246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5252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474720"/>
            <a:ext cx="2011680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3474720"/>
            <a:ext cx="20116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566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RMSD &lt; 2Å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Excellent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3474720"/>
            <a:ext cx="2011680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3474720"/>
            <a:ext cx="2011680" cy="73152"/>
          </a:xfrm>
          <a:prstGeom prst="rect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3566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RMSD 2–5Å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6888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Acceptable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17720" y="3474720"/>
            <a:ext cx="2011680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3474720"/>
            <a:ext cx="201168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3566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RMSD &gt; 5Å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Poor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66560" y="3474720"/>
            <a:ext cx="2011680" cy="658368"/>
          </a:xfrm>
          <a:prstGeom prst="rect">
            <a:avLst/>
          </a:prstGeom>
          <a:solidFill>
            <a:srgbClr val="EBF2FA"/>
          </a:solidFill>
          <a:ln w="6350">
            <a:solidFill>
              <a:srgbClr val="C5D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3474720"/>
            <a:ext cx="20116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3566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TM &gt; 0.5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6656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Same fold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FFF0F0"/>
          </a:solidFill>
          <a:ln w="10160">
            <a:solidFill>
              <a:srgbClr val="E052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27024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</a:rPr>
              <a:t>Why low scores? </a:t>
            </a:r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</a:rPr>
              <a:t>NERF uses idealized fixed torsion angles (Helix −47°, Sheet 180°, Coil −90°) — it cannot capture sequence-specific packing, side-chain interactions, or long-range contacts. AlphaFold learns these from 200M+ sequences.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3BB8C3"/>
          </a:solidFill>
          <a:ln w="12700">
            <a:solidFill>
              <a:srgbClr val="3BB8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B8C3"/>
                </a:solidFill>
              </a:rPr>
              <a:t>AlphaFold  +  ProteinBERT  |  UGP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457200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</a:rPr>
              <a:t>Raj Aryan (230837)   •   Tushar Jain (231102)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242"/>
                </a:solidFill>
              </a:rPr>
              <a:t>Guided by: Prof. Sana Khanum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36576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100584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64592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292608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3566160"/>
            <a:ext cx="164592" cy="164592"/>
          </a:xfrm>
          <a:prstGeom prst="ellipse">
            <a:avLst/>
          </a:prstGeom>
          <a:solidFill>
            <a:srgbClr val="3BB8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4206240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AlphaFold + ProteinBERT — UGP Presentation</dc:title>
  <dc:subject>PptxGenJS Presentation</dc:subject>
  <dc:creator>PptxGenJS</dc:creator>
  <cp:lastModifiedBy>PptxGenJS</cp:lastModifiedBy>
  <cp:revision>1</cp:revision>
  <dcterms:created xsi:type="dcterms:W3CDTF">2026-04-23T18:44:28Z</dcterms:created>
  <dcterms:modified xsi:type="dcterms:W3CDTF">2026-04-23T18:44:28Z</dcterms:modified>
</cp:coreProperties>
</file>